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Space Grotesk Light"/>
      <p:regular r:id="rId25"/>
      <p:bold r:id="rId26"/>
    </p:embeddedFont>
    <p:embeddedFont>
      <p:font typeface="Space Grotesk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Light-bold.fntdata"/><Relationship Id="rId25" Type="http://schemas.openxmlformats.org/officeDocument/2006/relationships/font" Target="fonts/SpaceGroteskLight-regular.fntdata"/><Relationship Id="rId28" Type="http://schemas.openxmlformats.org/officeDocument/2006/relationships/font" Target="fonts/SpaceGrotesk-bold.fntdata"/><Relationship Id="rId27" Type="http://schemas.openxmlformats.org/officeDocument/2006/relationships/font" Target="fonts/SpaceGrotes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34790e1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34790e1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34790e105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34790e105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34790e105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34790e105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34790e105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a34790e105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34790e105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34790e105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34790e105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34790e105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34790e105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34790e10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34790e105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34790e105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34790e105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a34790e105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34790e105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a34790e105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a34790e105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a34790e105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34790e105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34790e105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34790e105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34790e105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34790e105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34790e105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34790e105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34790e105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693679" y="1065664"/>
            <a:ext cx="88560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Predicting Delivery Delays in E-Commerce Supply Chains</a:t>
            </a:r>
            <a:endParaRPr b="1" sz="3000">
              <a:solidFill>
                <a:srgbClr val="CFE2F3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693685" y="34852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</a:rPr>
              <a:t>Sree Charan Reddy Kailasam</a:t>
            </a:r>
            <a:endParaRPr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</a:rPr>
              <a:t>NJ36656</a:t>
            </a:r>
            <a:endParaRPr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E2F3"/>
              </a:solidFill>
            </a:endParaRPr>
          </a:p>
        </p:txBody>
      </p:sp>
      <p:sp>
        <p:nvSpPr>
          <p:cNvPr id="321" name="Google Shape;321;p38"/>
          <p:cNvSpPr txBox="1"/>
          <p:nvPr/>
        </p:nvSpPr>
        <p:spPr>
          <a:xfrm>
            <a:off x="693675" y="2171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FE2F3"/>
                </a:solidFill>
              </a:rPr>
              <a:t>Advisor: Dr. Chaojie Wang</a:t>
            </a:r>
            <a:endParaRPr/>
          </a:p>
        </p:txBody>
      </p:sp>
      <p:sp>
        <p:nvSpPr>
          <p:cNvPr id="322" name="Google Shape;322;p38"/>
          <p:cNvSpPr txBox="1"/>
          <p:nvPr/>
        </p:nvSpPr>
        <p:spPr>
          <a:xfrm>
            <a:off x="1433025" y="98400"/>
            <a:ext cx="737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CFE2F3"/>
                </a:solidFill>
              </a:rPr>
              <a:t>DATA 606 Capstone in Data Science</a:t>
            </a:r>
            <a:endParaRPr sz="3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/>
        </p:nvSpPr>
        <p:spPr>
          <a:xfrm>
            <a:off x="369726" y="119625"/>
            <a:ext cx="389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Problem Statement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663346" y="1087424"/>
            <a:ext cx="40038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E-commerce struggles with on-time delivery.</a:t>
            </a:r>
            <a:br>
              <a:rPr b="1" lang="en" sz="2000">
                <a:solidFill>
                  <a:srgbClr val="CFE2F3"/>
                </a:solidFill>
              </a:rPr>
            </a:br>
            <a:r>
              <a:rPr lang="en" sz="2000">
                <a:solidFill>
                  <a:srgbClr val="CFE2F3"/>
                </a:solidFill>
              </a:rPr>
              <a:t> Late deliveries affect: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Customer satisfaction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Seller ratings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Logistics cost</a:t>
            </a:r>
            <a:endParaRPr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/>
        </p:nvSpPr>
        <p:spPr>
          <a:xfrm>
            <a:off x="445850" y="271875"/>
            <a:ext cx="2372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Objectives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34" name="Google Shape;334;p40"/>
          <p:cNvSpPr txBox="1"/>
          <p:nvPr/>
        </p:nvSpPr>
        <p:spPr>
          <a:xfrm>
            <a:off x="739440" y="1402767"/>
            <a:ext cx="65592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1. Predict Late vs On-Time Deliveries</a:t>
            </a:r>
            <a:endParaRPr b="1" sz="2000">
              <a:solidFill>
                <a:srgbClr val="CFE2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2. Estimate Expected Delay in Days</a:t>
            </a:r>
            <a:endParaRPr sz="2000">
              <a:solidFill>
                <a:srgbClr val="CFE2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3. Identify the Strongest Drivers of Delays</a:t>
            </a:r>
            <a:endParaRPr sz="2000">
              <a:solidFill>
                <a:srgbClr val="CFE2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4. Understand Seasonal &amp; Regional Delay Patterns</a:t>
            </a:r>
            <a:endParaRPr b="1"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/>
        </p:nvSpPr>
        <p:spPr>
          <a:xfrm>
            <a:off x="532834" y="402354"/>
            <a:ext cx="4188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Dataset Overview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1054799" y="1370152"/>
            <a:ext cx="64179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Final Combined Dataset</a:t>
            </a:r>
            <a:endParaRPr b="1"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~100,000 complete orders (after cleaning)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Time period: </a:t>
            </a:r>
            <a:r>
              <a:rPr b="1" lang="en" sz="2000">
                <a:solidFill>
                  <a:srgbClr val="CFE2F3"/>
                </a:solidFill>
              </a:rPr>
              <a:t>2016–2018</a:t>
            </a:r>
            <a:endParaRPr b="1"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Unit of analysis: </a:t>
            </a:r>
            <a:r>
              <a:rPr b="1" lang="en" sz="2000">
                <a:solidFill>
                  <a:srgbClr val="CFE2F3"/>
                </a:solidFill>
              </a:rPr>
              <a:t>1 row = 1 order with full details</a:t>
            </a:r>
            <a:endParaRPr b="1"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Merged </a:t>
            </a:r>
            <a:r>
              <a:rPr b="1" lang="en" sz="2000">
                <a:solidFill>
                  <a:srgbClr val="CFE2F3"/>
                </a:solidFill>
              </a:rPr>
              <a:t>8 Olist datasets</a:t>
            </a:r>
            <a:r>
              <a:rPr lang="en" sz="2000">
                <a:solidFill>
                  <a:srgbClr val="CFE2F3"/>
                </a:solidFill>
              </a:rPr>
              <a:t> into one unified modeling dataset.</a:t>
            </a:r>
            <a:endParaRPr sz="2000">
              <a:solidFill>
                <a:srgbClr val="CFE2F3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/>
          <p:nvPr/>
        </p:nvSpPr>
        <p:spPr>
          <a:xfrm>
            <a:off x="543700" y="43497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Data Cleaning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46" name="Google Shape;346;p42"/>
          <p:cNvSpPr txBox="1"/>
          <p:nvPr/>
        </p:nvSpPr>
        <p:spPr>
          <a:xfrm>
            <a:off x="1169650" y="1337525"/>
            <a:ext cx="52374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Performed</a:t>
            </a:r>
            <a:r>
              <a:rPr lang="en" sz="2000">
                <a:solidFill>
                  <a:srgbClr val="CFE2F3"/>
                </a:solidFill>
              </a:rPr>
              <a:t>: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Dropped duplicates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Removed missing target values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Converted all timestamps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Created delay labels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Merged geolocation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Engineered distance feature</a:t>
            </a:r>
            <a:endParaRPr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 txBox="1"/>
          <p:nvPr/>
        </p:nvSpPr>
        <p:spPr>
          <a:xfrm>
            <a:off x="685075" y="380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Target Variable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52" name="Google Shape;352;p43"/>
          <p:cNvSpPr txBox="1"/>
          <p:nvPr/>
        </p:nvSpPr>
        <p:spPr>
          <a:xfrm>
            <a:off x="1294025" y="1446275"/>
            <a:ext cx="71466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Late Delivery = delivered date &gt; estimated date</a:t>
            </a:r>
            <a:endParaRPr b="1"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On-time ~90%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Delayed ~10%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Strong class imbalance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Strong class imbalance → needed SMOTE to help the model learn delayed cases.</a:t>
            </a:r>
            <a:endParaRPr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/>
        </p:nvSpPr>
        <p:spPr>
          <a:xfrm>
            <a:off x="424100" y="282725"/>
            <a:ext cx="374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 Delay by Month</a:t>
            </a:r>
            <a:endParaRPr b="1" sz="3000">
              <a:solidFill>
                <a:srgbClr val="CFE2F3"/>
              </a:solidFill>
            </a:endParaRPr>
          </a:p>
        </p:txBody>
      </p:sp>
      <p:pic>
        <p:nvPicPr>
          <p:cNvPr id="358" name="Google Shape;35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0925" y="1067800"/>
            <a:ext cx="6642149" cy="369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5"/>
          <p:cNvSpPr txBox="1"/>
          <p:nvPr/>
        </p:nvSpPr>
        <p:spPr>
          <a:xfrm>
            <a:off x="641555" y="413231"/>
            <a:ext cx="423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CFE2F3"/>
                </a:solidFill>
              </a:rPr>
              <a:t>Key Model Features</a:t>
            </a:r>
            <a:endParaRPr sz="3000">
              <a:solidFill>
                <a:srgbClr val="CFE2F3"/>
              </a:solidFill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1337525" y="1185300"/>
            <a:ext cx="55914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Top predictors influencing delays:</a:t>
            </a:r>
            <a:endParaRPr b="1"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Distance (customer → seller)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Product weight &amp; volume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Purchase month &amp; weekday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State-to-state route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Delivery gap (ETA days)</a:t>
            </a:r>
            <a:endParaRPr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/>
          <p:nvPr/>
        </p:nvSpPr>
        <p:spPr>
          <a:xfrm>
            <a:off x="159300" y="2827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Model Design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70" name="Google Shape;370;p46"/>
          <p:cNvSpPr txBox="1"/>
          <p:nvPr/>
        </p:nvSpPr>
        <p:spPr>
          <a:xfrm>
            <a:off x="159300" y="929225"/>
            <a:ext cx="43437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FE2F3"/>
                </a:solidFill>
              </a:rPr>
              <a:t>Two-Stage Predictive System</a:t>
            </a:r>
            <a:endParaRPr b="1" sz="1600">
              <a:solidFill>
                <a:srgbClr val="CFE2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FE2F3"/>
                </a:solidFill>
              </a:rPr>
              <a:t>1. Classification Model — XGBoost Classifier</a:t>
            </a:r>
            <a:br>
              <a:rPr lang="en" sz="1600">
                <a:solidFill>
                  <a:srgbClr val="CFE2F3"/>
                </a:solidFill>
              </a:rPr>
            </a:br>
            <a:r>
              <a:rPr lang="en" sz="1600">
                <a:solidFill>
                  <a:srgbClr val="CFE2F3"/>
                </a:solidFill>
              </a:rPr>
              <a:t> Predicts whether an order will be Late vs On-time</a:t>
            </a:r>
            <a:br>
              <a:rPr lang="en" sz="1600">
                <a:solidFill>
                  <a:srgbClr val="CFE2F3"/>
                </a:solidFill>
              </a:rPr>
            </a:br>
            <a:endParaRPr sz="1600">
              <a:solidFill>
                <a:srgbClr val="CFE2F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FE2F3"/>
                </a:solidFill>
              </a:rPr>
              <a:t>2. Regression Model — XGBoost Quantile Regression</a:t>
            </a:r>
            <a:br>
              <a:rPr lang="en" sz="1600">
                <a:solidFill>
                  <a:srgbClr val="CFE2F3"/>
                </a:solidFill>
              </a:rPr>
            </a:br>
            <a:r>
              <a:rPr lang="en" sz="1600">
                <a:solidFill>
                  <a:srgbClr val="CFE2F3"/>
                </a:solidFill>
              </a:rPr>
              <a:t> Predicts Days Late for orders classified as delayed</a:t>
            </a:r>
            <a:endParaRPr sz="1600">
              <a:solidFill>
                <a:srgbClr val="CFE2F3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1600"/>
              <a:buChar char="●"/>
            </a:pPr>
            <a:r>
              <a:rPr lang="en" sz="1600">
                <a:solidFill>
                  <a:srgbClr val="CFE2F3"/>
                </a:solidFill>
              </a:rPr>
              <a:t>Median quantile model (0.5 alpha)</a:t>
            </a:r>
            <a:br>
              <a:rPr lang="en" sz="1600">
                <a:solidFill>
                  <a:srgbClr val="CFE2F3"/>
                </a:solidFill>
              </a:rPr>
            </a:br>
            <a:endParaRPr sz="1600">
              <a:solidFill>
                <a:srgbClr val="CFE2F3"/>
              </a:solidFill>
            </a:endParaRPr>
          </a:p>
        </p:txBody>
      </p:sp>
      <p:pic>
        <p:nvPicPr>
          <p:cNvPr id="371" name="Google Shape;371;p46"/>
          <p:cNvPicPr preferRelativeResize="0"/>
          <p:nvPr/>
        </p:nvPicPr>
        <p:blipFill rotWithShape="1">
          <a:blip r:embed="rId3">
            <a:alphaModFix/>
          </a:blip>
          <a:srcRect b="0" l="7347" r="0" t="0"/>
          <a:stretch/>
        </p:blipFill>
        <p:spPr>
          <a:xfrm>
            <a:off x="5307050" y="759761"/>
            <a:ext cx="2650025" cy="378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/>
          <p:nvPr/>
        </p:nvSpPr>
        <p:spPr>
          <a:xfrm>
            <a:off x="500220" y="260977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Results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77" name="Google Shape;377;p47"/>
          <p:cNvSpPr txBox="1"/>
          <p:nvPr/>
        </p:nvSpPr>
        <p:spPr>
          <a:xfrm>
            <a:off x="946075" y="1011325"/>
            <a:ext cx="8614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Classification Model</a:t>
            </a:r>
            <a:endParaRPr b="1"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Accuracy: 0.78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ROC-AUC: 0.76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Recall for delayed class: 0.59</a:t>
            </a:r>
            <a:endParaRPr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Regression Model</a:t>
            </a:r>
            <a:endParaRPr b="1"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highly skewed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predicting the median gave more stable, realistic delay estimates.</a:t>
            </a: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MAE ≈ 5.1 days</a:t>
            </a:r>
            <a:endParaRPr sz="2000">
              <a:solidFill>
                <a:srgbClr val="CFE2F3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FE2F3"/>
              </a:solidFill>
            </a:endParaRPr>
          </a:p>
        </p:txBody>
      </p:sp>
      <p:pic>
        <p:nvPicPr>
          <p:cNvPr id="378" name="Google Shape;37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094" y="649569"/>
            <a:ext cx="3793850" cy="32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8"/>
          <p:cNvSpPr txBox="1"/>
          <p:nvPr/>
        </p:nvSpPr>
        <p:spPr>
          <a:xfrm>
            <a:off x="350700" y="347975"/>
            <a:ext cx="474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Streamlit App Overview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84" name="Google Shape;384;p48"/>
          <p:cNvSpPr txBox="1"/>
          <p:nvPr/>
        </p:nvSpPr>
        <p:spPr>
          <a:xfrm>
            <a:off x="410750" y="1206625"/>
            <a:ext cx="29304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CFE2F3"/>
                </a:solidFill>
              </a:rPr>
              <a:t>Streamlit app does:</a:t>
            </a:r>
            <a:endParaRPr b="1"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Predict late/on-time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Predict delay days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Show route map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Provide expected arrival date</a:t>
            </a:r>
            <a:endParaRPr sz="2000">
              <a:solidFill>
                <a:srgbClr val="CFE2F3"/>
              </a:solidFill>
            </a:endParaRPr>
          </a:p>
        </p:txBody>
      </p:sp>
      <p:pic>
        <p:nvPicPr>
          <p:cNvPr id="385" name="Google Shape;38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7925" y="1017210"/>
            <a:ext cx="6122176" cy="310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 txBox="1"/>
          <p:nvPr/>
        </p:nvSpPr>
        <p:spPr>
          <a:xfrm>
            <a:off x="434975" y="413225"/>
            <a:ext cx="4036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Business Insights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91" name="Google Shape;391;p49"/>
          <p:cNvSpPr txBox="1"/>
          <p:nvPr/>
        </p:nvSpPr>
        <p:spPr>
          <a:xfrm>
            <a:off x="1065650" y="1489775"/>
            <a:ext cx="7103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Distance is the biggest driver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March &amp; December need capacity planning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Heavy &amp; bulky items are more delay-prone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Some states consistently underperform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Estimated delivery dates can be improved</a:t>
            </a:r>
            <a:endParaRPr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/>
          <p:nvPr/>
        </p:nvSpPr>
        <p:spPr>
          <a:xfrm>
            <a:off x="608950" y="3588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Future Work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397" name="Google Shape;397;p50"/>
          <p:cNvSpPr txBox="1"/>
          <p:nvPr/>
        </p:nvSpPr>
        <p:spPr>
          <a:xfrm>
            <a:off x="1065675" y="1565875"/>
            <a:ext cx="54501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Add weather and traffic data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Retrain on post-pandemic data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Deep learning for route clustering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Real-time prediction for live orders</a:t>
            </a:r>
            <a:endParaRPr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1"/>
          <p:cNvSpPr txBox="1"/>
          <p:nvPr/>
        </p:nvSpPr>
        <p:spPr>
          <a:xfrm>
            <a:off x="543700" y="2283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FE2F3"/>
                </a:solidFill>
              </a:rPr>
              <a:t>Conclusion</a:t>
            </a:r>
            <a:endParaRPr b="1" sz="3000">
              <a:solidFill>
                <a:srgbClr val="CFE2F3"/>
              </a:solidFill>
            </a:endParaRPr>
          </a:p>
        </p:txBody>
      </p:sp>
      <p:sp>
        <p:nvSpPr>
          <p:cNvPr id="403" name="Google Shape;403;p51"/>
          <p:cNvSpPr txBox="1"/>
          <p:nvPr/>
        </p:nvSpPr>
        <p:spPr>
          <a:xfrm>
            <a:off x="1065675" y="1336650"/>
            <a:ext cx="6298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Built a complete ML pipeline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Achieved strong classification performance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Regression model gives practical delay estimates</a:t>
            </a:r>
            <a:br>
              <a:rPr lang="en" sz="2000">
                <a:solidFill>
                  <a:srgbClr val="CFE2F3"/>
                </a:solidFill>
              </a:rPr>
            </a:br>
            <a:endParaRPr sz="2000">
              <a:solidFill>
                <a:srgbClr val="CFE2F3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2000"/>
              <a:buChar char="●"/>
            </a:pPr>
            <a:r>
              <a:rPr lang="en" sz="2000">
                <a:solidFill>
                  <a:srgbClr val="CFE2F3"/>
                </a:solidFill>
              </a:rPr>
              <a:t>Streamlit tool demonstrates real-world applicability</a:t>
            </a:r>
            <a:endParaRPr sz="20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/>
          <p:nvPr/>
        </p:nvSpPr>
        <p:spPr>
          <a:xfrm>
            <a:off x="1788850" y="1239650"/>
            <a:ext cx="6423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CFE2F3"/>
                </a:solidFill>
              </a:rPr>
              <a:t>Thank You</a:t>
            </a:r>
            <a:endParaRPr sz="5000">
              <a:solidFill>
                <a:srgbClr val="CFE2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CFE2F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CFE2F3"/>
                </a:solidFill>
              </a:rPr>
              <a:t>Questions?</a:t>
            </a:r>
            <a:endParaRPr sz="3500">
              <a:solidFill>
                <a:srgbClr val="CFE2F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